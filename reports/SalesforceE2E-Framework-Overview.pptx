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70D2"/>
          </a:solidFill>
          <a:ln w="12700">
            <a:solidFill>
              <a:srgbClr val="0070D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217920"/>
            <a:ext cx="12192000" cy="640080"/>
          </a:xfrm>
          <a:prstGeom prst="rect">
            <a:avLst/>
          </a:prstGeom>
          <a:solidFill>
            <a:srgbClr val="0070D2"/>
          </a:solidFill>
          <a:ln w="12700">
            <a:solidFill>
              <a:srgbClr val="0070D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0" y="-1097280"/>
            <a:ext cx="4114800" cy="4114800"/>
          </a:xfrm>
          <a:prstGeom prst="ellipse">
            <a:avLst/>
          </a:prstGeom>
          <a:solidFill>
            <a:srgbClr val="00A1BE">
              <a:alpha val="15000"/>
            </a:srgbClr>
          </a:solidFill>
          <a:ln w="12700">
            <a:solidFill>
              <a:srgbClr val="00A1B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28016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A1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E2E TESTING FRAMEWORK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737360"/>
            <a:ext cx="10058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CPQ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Automation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822960" y="3429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B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 ·  Claude AI  ·  TypeScript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6291072"/>
            <a:ext cx="7315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Overview  |  April 2026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0" y="6291072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Nikhil Gupta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0070D2"/>
          </a:solidFill>
          <a:ln w="12700">
            <a:solidFill>
              <a:srgbClr val="0070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A1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384048"/>
            <a:ext cx="11338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87552"/>
            <a:ext cx="11338560" cy="27432"/>
          </a:xfrm>
          <a:prstGeom prst="rect">
            <a:avLst/>
          </a:prstGeom>
          <a:solidFill>
            <a:srgbClr val="0070D2"/>
          </a:solidFill>
          <a:ln w="12700">
            <a:solidFill>
              <a:srgbClr val="0070D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143000"/>
            <a:ext cx="502920" cy="457200"/>
          </a:xfrm>
          <a:prstGeom prst="rect">
            <a:avLst>
              <a:gd name="adj" fmla="val 10000"/>
            </a:avLst>
          </a:prstGeom>
          <a:solidFill>
            <a:srgbClr val="0070D2"/>
          </a:solidFill>
          <a:ln w="12700">
            <a:solidFill>
              <a:srgbClr val="0070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207008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116128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1371600"/>
            <a:ext cx="10058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needed a smarter approach to Salesforce testing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1847088"/>
            <a:ext cx="502920" cy="457200"/>
          </a:xfrm>
          <a:prstGeom prst="rect">
            <a:avLst>
              <a:gd name="adj" fmla="val 10000"/>
            </a:avLst>
          </a:prstGeom>
          <a:solidFill>
            <a:srgbClr val="0070D2"/>
          </a:solidFill>
          <a:ln w="12700">
            <a:solidFill>
              <a:srgbClr val="0070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911096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1865376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Architecture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2075688"/>
            <a:ext cx="10058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Playwright + Claude AI work together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551176"/>
            <a:ext cx="502920" cy="457200"/>
          </a:xfrm>
          <a:prstGeom prst="rect">
            <a:avLst>
              <a:gd name="adj" fmla="val 10000"/>
            </a:avLst>
          </a:prstGeom>
          <a:solidFill>
            <a:srgbClr val="0070D2"/>
          </a:solidFill>
          <a:ln w="12700">
            <a:solidFill>
              <a:srgbClr val="0070D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615184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2569464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Test Generation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2779776"/>
            <a:ext cx="10058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user stories to test code automatically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255264"/>
            <a:ext cx="502920" cy="457200"/>
          </a:xfrm>
          <a:prstGeom prst="rect">
            <a:avLst>
              <a:gd name="adj" fmla="val 10000"/>
            </a:avLst>
          </a:prstGeom>
          <a:solidFill>
            <a:srgbClr val="0070D2"/>
          </a:solidFill>
          <a:ln w="12700">
            <a:solidFill>
              <a:srgbClr val="0070D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319272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327355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Self-Healing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3483864"/>
            <a:ext cx="10058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repair of broken tests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959352"/>
            <a:ext cx="502920" cy="457200"/>
          </a:xfrm>
          <a:prstGeom prst="rect">
            <a:avLst>
              <a:gd name="adj" fmla="val 10000"/>
            </a:avLst>
          </a:prstGeom>
          <a:solidFill>
            <a:srgbClr val="0070D2"/>
          </a:solidFill>
          <a:ln w="12700">
            <a:solidFill>
              <a:srgbClr val="0070D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023360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05840" y="39776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&amp; Dashboard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05840" y="4187952"/>
            <a:ext cx="10058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7-step orchestration with live reporting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4663440"/>
            <a:ext cx="502920" cy="457200"/>
          </a:xfrm>
          <a:prstGeom prst="rect">
            <a:avLst>
              <a:gd name="adj" fmla="val 10000"/>
            </a:avLst>
          </a:prstGeom>
          <a:solidFill>
            <a:srgbClr val="0070D2"/>
          </a:solidFill>
          <a:ln w="12700">
            <a:solidFill>
              <a:srgbClr val="0070D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727448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05840" y="468172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Coverage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05840" y="4892040"/>
            <a:ext cx="10058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tests · 4 modules · 100 % pass rate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5367528"/>
            <a:ext cx="502920" cy="457200"/>
          </a:xfrm>
          <a:prstGeom prst="rect">
            <a:avLst>
              <a:gd name="adj" fmla="val 10000"/>
            </a:avLst>
          </a:prstGeom>
          <a:solidFill>
            <a:srgbClr val="0070D2"/>
          </a:solidFill>
          <a:ln w="12700">
            <a:solidFill>
              <a:srgbClr val="0070D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5431536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005840" y="5385816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005840" y="5596128"/>
            <a:ext cx="10058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Speed, cost, and quality impact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0070D2"/>
          </a:solidFill>
          <a:ln w="12700">
            <a:solidFill>
              <a:srgbClr val="0070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A1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384048"/>
            <a:ext cx="11338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We Solved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87552"/>
            <a:ext cx="11338560" cy="27432"/>
          </a:xfrm>
          <a:prstGeom prst="rect">
            <a:avLst/>
          </a:prstGeom>
          <a:solidFill>
            <a:srgbClr val="0070D2"/>
          </a:solidFill>
          <a:ln w="12700">
            <a:solidFill>
              <a:srgbClr val="0070D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143000"/>
            <a:ext cx="3749040" cy="1783080"/>
          </a:xfrm>
          <a:prstGeom prst="rect">
            <a:avLst>
              <a:gd name="adj" fmla="val 4103"/>
            </a:avLst>
          </a:prstGeom>
          <a:solidFill>
            <a:srgbClr val="EAF3FB"/>
          </a:solidFill>
          <a:ln w="19050">
            <a:solidFill>
              <a:srgbClr val="0070D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1307592"/>
            <a:ext cx="457200" cy="457200"/>
          </a:xfrm>
          <a:prstGeom prst="rect">
            <a:avLst>
              <a:gd name="adj" fmla="val 12000"/>
            </a:avLst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1325880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⏱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78992" y="1344168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Manual Testing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0352" y="1801368"/>
            <a:ext cx="34564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E4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CPQ regression cycles took days; frequent UI changes broke existing scripts instantly.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43400" y="1143000"/>
            <a:ext cx="3749040" cy="1783080"/>
          </a:xfrm>
          <a:prstGeom prst="rect">
            <a:avLst>
              <a:gd name="adj" fmla="val 4103"/>
            </a:avLst>
          </a:prstGeom>
          <a:solidFill>
            <a:srgbClr val="EAF3FB"/>
          </a:solidFill>
          <a:ln w="19050">
            <a:solidFill>
              <a:srgbClr val="0070D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07992" y="1307592"/>
            <a:ext cx="457200" cy="457200"/>
          </a:xfrm>
          <a:prstGeom prst="rect">
            <a:avLst>
              <a:gd name="adj" fmla="val 12000"/>
            </a:avLst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07992" y="1325880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🔧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056632" y="1344168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Brittle Selectors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07992" y="1801368"/>
            <a:ext cx="34564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E4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DOM &amp; Lightning Web Components (LWC) made traditional XPath/CSS selectors unreliable.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321040" y="1143000"/>
            <a:ext cx="3749040" cy="1783080"/>
          </a:xfrm>
          <a:prstGeom prst="rect">
            <a:avLst>
              <a:gd name="adj" fmla="val 4103"/>
            </a:avLst>
          </a:prstGeom>
          <a:solidFill>
            <a:srgbClr val="EAF3FB"/>
          </a:solidFill>
          <a:ln w="19050">
            <a:solidFill>
              <a:srgbClr val="0070D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85632" y="1307592"/>
            <a:ext cx="457200" cy="457200"/>
          </a:xfrm>
          <a:prstGeom prst="rect">
            <a:avLst>
              <a:gd name="adj" fmla="val 12000"/>
            </a:avLst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85632" y="1325880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📝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034272" y="1344168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Authoring Cost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485632" y="1801368"/>
            <a:ext cx="34564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E4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maintainable Playwright tests for Salesforce required deep LWC DOM knowledge.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154680"/>
            <a:ext cx="3749040" cy="1783080"/>
          </a:xfrm>
          <a:prstGeom prst="rect">
            <a:avLst>
              <a:gd name="adj" fmla="val 4103"/>
            </a:avLst>
          </a:prstGeom>
          <a:solidFill>
            <a:srgbClr val="EAF3FB"/>
          </a:solidFill>
          <a:ln w="19050">
            <a:solidFill>
              <a:srgbClr val="0070D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0352" y="3319272"/>
            <a:ext cx="457200" cy="457200"/>
          </a:xfrm>
          <a:prstGeom prst="rect">
            <a:avLst>
              <a:gd name="adj" fmla="val 12000"/>
            </a:avLst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" y="3337560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🔁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078992" y="3355848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Breakage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0352" y="3813048"/>
            <a:ext cx="34564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E4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Salesforce release or org change could silently break dozens of test steps.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343400" y="3154680"/>
            <a:ext cx="3749040" cy="1783080"/>
          </a:xfrm>
          <a:prstGeom prst="rect">
            <a:avLst>
              <a:gd name="adj" fmla="val 4103"/>
            </a:avLst>
          </a:prstGeom>
          <a:solidFill>
            <a:srgbClr val="EAF3FB"/>
          </a:solidFill>
          <a:ln w="19050">
            <a:solidFill>
              <a:srgbClr val="0070D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07992" y="3319272"/>
            <a:ext cx="457200" cy="457200"/>
          </a:xfrm>
          <a:prstGeom prst="rect">
            <a:avLst>
              <a:gd name="adj" fmla="val 12000"/>
            </a:avLst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07992" y="3337560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🚫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056632" y="3355848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Feedback Loop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07992" y="3813048"/>
            <a:ext cx="34564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E4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had no live visibility into test status, failures, or pipeline health.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0070D2"/>
          </a:solidFill>
          <a:ln w="12700">
            <a:solidFill>
              <a:srgbClr val="0070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A1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384048"/>
            <a:ext cx="11338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Architecture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87552"/>
            <a:ext cx="11338560" cy="27432"/>
          </a:xfrm>
          <a:prstGeom prst="rect">
            <a:avLst/>
          </a:prstGeom>
          <a:solidFill>
            <a:srgbClr val="0070D2"/>
          </a:solidFill>
          <a:ln w="12700">
            <a:solidFill>
              <a:srgbClr val="0070D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097280"/>
            <a:ext cx="3749040" cy="384048"/>
          </a:xfrm>
          <a:prstGeom prst="rect">
            <a:avLst>
              <a:gd name="adj" fmla="val 14286"/>
            </a:avLst>
          </a:prstGeom>
          <a:solidFill>
            <a:srgbClr val="00A1BE"/>
          </a:solidFill>
          <a:ln w="12700">
            <a:solidFill>
              <a:srgbClr val="00A1B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11556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1508760"/>
            <a:ext cx="3749040" cy="4892040"/>
          </a:xfrm>
          <a:prstGeom prst="rect">
            <a:avLst>
              <a:gd name="adj" fmla="val 1951"/>
            </a:avLst>
          </a:prstGeom>
          <a:solidFill>
            <a:srgbClr val="F4F6F9"/>
          </a:solidFill>
          <a:ln w="19050">
            <a:solidFill>
              <a:srgbClr val="00A1B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" y="1664208"/>
            <a:ext cx="54864" cy="256032"/>
          </a:xfrm>
          <a:prstGeom prst="rect">
            <a:avLst/>
          </a:prstGeom>
          <a:solidFill>
            <a:srgbClr val="00A1BE"/>
          </a:solidFill>
          <a:ln w="12700">
            <a:solidFill>
              <a:srgbClr val="00A1B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66420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4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 (.md)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" y="2468880"/>
            <a:ext cx="54864" cy="256032"/>
          </a:xfrm>
          <a:prstGeom prst="rect">
            <a:avLst/>
          </a:prstGeom>
          <a:solidFill>
            <a:srgbClr val="00A1BE"/>
          </a:solidFill>
          <a:ln w="12700">
            <a:solidFill>
              <a:srgbClr val="00A1B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4688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4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Sandbox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" y="3273552"/>
            <a:ext cx="54864" cy="256032"/>
          </a:xfrm>
          <a:prstGeom prst="rect">
            <a:avLst/>
          </a:prstGeom>
          <a:solidFill>
            <a:srgbClr val="00A1BE"/>
          </a:solidFill>
          <a:ln w="12700">
            <a:solidFill>
              <a:srgbClr val="00A1B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27355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4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Config JSON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" y="4078224"/>
            <a:ext cx="54864" cy="256032"/>
          </a:xfrm>
          <a:prstGeom prst="rect">
            <a:avLst/>
          </a:prstGeom>
          <a:solidFill>
            <a:srgbClr val="00A1BE"/>
          </a:solidFill>
          <a:ln w="12700">
            <a:solidFill>
              <a:srgbClr val="00A1B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07822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4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Variables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51960" y="1097280"/>
            <a:ext cx="3749040" cy="384048"/>
          </a:xfrm>
          <a:prstGeom prst="rect">
            <a:avLst>
              <a:gd name="adj" fmla="val 14286"/>
            </a:avLst>
          </a:prstGeom>
          <a:solidFill>
            <a:srgbClr val="0070D2"/>
          </a:solidFill>
          <a:ln w="12700">
            <a:solidFill>
              <a:srgbClr val="0070D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51960" y="111556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ENGINE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251960" y="1508760"/>
            <a:ext cx="3749040" cy="4892040"/>
          </a:xfrm>
          <a:prstGeom prst="rect">
            <a:avLst>
              <a:gd name="adj" fmla="val 1951"/>
            </a:avLst>
          </a:prstGeom>
          <a:solidFill>
            <a:srgbClr val="F4F6F9"/>
          </a:solidFill>
          <a:ln w="19050">
            <a:solidFill>
              <a:srgbClr val="0070D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16552" y="1664208"/>
            <a:ext cx="54864" cy="256032"/>
          </a:xfrm>
          <a:prstGeom prst="rect">
            <a:avLst/>
          </a:prstGeom>
          <a:solidFill>
            <a:srgbClr val="0070D2"/>
          </a:solidFill>
          <a:ln w="12700">
            <a:solidFill>
              <a:srgbClr val="0070D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0" y="166420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4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 (test gen + healing)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16552" y="2468880"/>
            <a:ext cx="54864" cy="256032"/>
          </a:xfrm>
          <a:prstGeom prst="rect">
            <a:avLst/>
          </a:prstGeom>
          <a:solidFill>
            <a:srgbClr val="0070D2"/>
          </a:solidFill>
          <a:ln w="12700">
            <a:solidFill>
              <a:srgbClr val="0070D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0" y="24688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4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(browser automation)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416552" y="3273552"/>
            <a:ext cx="54864" cy="256032"/>
          </a:xfrm>
          <a:prstGeom prst="rect">
            <a:avLst/>
          </a:prstGeom>
          <a:solidFill>
            <a:srgbClr val="0070D2"/>
          </a:solidFill>
          <a:ln w="12700">
            <a:solidFill>
              <a:srgbClr val="0070D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0" y="327355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4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7-Step Pipeline Orchestrator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416552" y="4078224"/>
            <a:ext cx="54864" cy="256032"/>
          </a:xfrm>
          <a:prstGeom prst="rect">
            <a:avLst/>
          </a:prstGeom>
          <a:solidFill>
            <a:srgbClr val="0070D2"/>
          </a:solidFill>
          <a:ln w="12700">
            <a:solidFill>
              <a:srgbClr val="0070D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0" y="407822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4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Change Detection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416552" y="4882896"/>
            <a:ext cx="54864" cy="256032"/>
          </a:xfrm>
          <a:prstGeom prst="rect">
            <a:avLst/>
          </a:prstGeom>
          <a:solidFill>
            <a:srgbClr val="0070D2"/>
          </a:solidFill>
          <a:ln w="12700">
            <a:solidFill>
              <a:srgbClr val="0070D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0" y="488289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4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SalesforceFormHandler (LWC)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229600" y="1097280"/>
            <a:ext cx="3749040" cy="384048"/>
          </a:xfrm>
          <a:prstGeom prst="rect">
            <a:avLst>
              <a:gd name="adj" fmla="val 14286"/>
            </a:avLst>
          </a:prstGeom>
          <a:solidFill>
            <a:srgbClr val="2E844A"/>
          </a:solidFill>
          <a:ln w="12700">
            <a:solidFill>
              <a:srgbClr val="2E84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0" y="111556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229600" y="1508760"/>
            <a:ext cx="3749040" cy="4892040"/>
          </a:xfrm>
          <a:prstGeom prst="rect">
            <a:avLst>
              <a:gd name="adj" fmla="val 1951"/>
            </a:avLst>
          </a:prstGeom>
          <a:solidFill>
            <a:srgbClr val="F4F6F9"/>
          </a:solidFill>
          <a:ln w="19050">
            <a:solidFill>
              <a:srgbClr val="2E844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394192" y="1664208"/>
            <a:ext cx="54864" cy="256032"/>
          </a:xfrm>
          <a:prstGeom prst="rect">
            <a:avLst/>
          </a:prstGeom>
          <a:solidFill>
            <a:srgbClr val="2E844A"/>
          </a:solidFill>
          <a:ln w="12700">
            <a:solidFill>
              <a:srgbClr val="2E84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549640" y="166420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4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TypeScript Test Specs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394192" y="2468880"/>
            <a:ext cx="54864" cy="256032"/>
          </a:xfrm>
          <a:prstGeom prst="rect">
            <a:avLst/>
          </a:prstGeom>
          <a:solidFill>
            <a:srgbClr val="2E844A"/>
          </a:solidFill>
          <a:ln w="12700">
            <a:solidFill>
              <a:srgbClr val="2E84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549640" y="24688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4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HTML Dashboard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394192" y="3273552"/>
            <a:ext cx="54864" cy="256032"/>
          </a:xfrm>
          <a:prstGeom prst="rect">
            <a:avLst/>
          </a:prstGeom>
          <a:solidFill>
            <a:srgbClr val="2E844A"/>
          </a:solidFill>
          <a:ln w="12700">
            <a:solidFill>
              <a:srgbClr val="2E84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549640" y="327355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4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State JSON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394192" y="4078224"/>
            <a:ext cx="54864" cy="256032"/>
          </a:xfrm>
          <a:prstGeom prst="rect">
            <a:avLst/>
          </a:prstGeom>
          <a:solidFill>
            <a:srgbClr val="2E844A"/>
          </a:solidFill>
          <a:ln w="12700">
            <a:solidFill>
              <a:srgbClr val="2E84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549640" y="407822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4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Self-Healed Test Code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394192" y="4882896"/>
            <a:ext cx="54864" cy="256032"/>
          </a:xfrm>
          <a:prstGeom prst="rect">
            <a:avLst/>
          </a:prstGeom>
          <a:solidFill>
            <a:srgbClr val="2E844A"/>
          </a:solidFill>
          <a:ln w="12700">
            <a:solidFill>
              <a:srgbClr val="2E84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549640" y="488289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4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 to Repository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886200" y="3108960"/>
            <a:ext cx="502920" cy="411480"/>
          </a:xfrm>
          <a:prstGeom prst="rightArrow">
            <a:avLst/>
          </a:prstGeom>
          <a:solidFill>
            <a:srgbClr val="FFB75D"/>
          </a:solidFill>
          <a:ln w="12700">
            <a:solidFill>
              <a:srgbClr val="FFB75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863840" y="3108960"/>
            <a:ext cx="502920" cy="411480"/>
          </a:xfrm>
          <a:prstGeom prst="rightArrow">
            <a:avLst/>
          </a:prstGeom>
          <a:solidFill>
            <a:srgbClr val="FFB75D"/>
          </a:solidFill>
          <a:ln w="12700">
            <a:solidFill>
              <a:srgbClr val="FFB75D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0070D2"/>
          </a:solidFill>
          <a:ln w="12700">
            <a:solidFill>
              <a:srgbClr val="0070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A1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CAPABILITY 1 OF 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384048"/>
            <a:ext cx="11338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Test Generation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87552"/>
            <a:ext cx="11338560" cy="27432"/>
          </a:xfrm>
          <a:prstGeom prst="rect">
            <a:avLst/>
          </a:prstGeom>
          <a:solidFill>
            <a:srgbClr val="0070D2"/>
          </a:solidFill>
          <a:ln w="12700">
            <a:solidFill>
              <a:srgbClr val="0070D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34440"/>
            <a:ext cx="2057400" cy="1783080"/>
          </a:xfrm>
          <a:prstGeom prst="rect">
            <a:avLst>
              <a:gd name="adj" fmla="val 4103"/>
            </a:avLst>
          </a:prstGeom>
          <a:solidFill>
            <a:srgbClr val="EAF3FB"/>
          </a:solidFill>
          <a:ln w="19050">
            <a:solidFill>
              <a:srgbClr val="0070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2588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📄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57200" y="192024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(.md file)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14600" y="1810512"/>
            <a:ext cx="320040" cy="320040"/>
          </a:xfrm>
          <a:prstGeom prst="rightArrow">
            <a:avLst/>
          </a:prstGeom>
          <a:solidFill>
            <a:srgbClr val="0070D2"/>
          </a:solidFill>
          <a:ln w="12700">
            <a:solidFill>
              <a:srgbClr val="0070D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16352" y="1234440"/>
            <a:ext cx="2057400" cy="1783080"/>
          </a:xfrm>
          <a:prstGeom prst="rect">
            <a:avLst>
              <a:gd name="adj" fmla="val 4103"/>
            </a:avLst>
          </a:prstGeom>
          <a:solidFill>
            <a:srgbClr val="EAF3FB"/>
          </a:solidFill>
          <a:ln w="19050">
            <a:solidFill>
              <a:srgbClr val="0070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16352" y="132588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🔍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816352" y="192024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73752" y="1810512"/>
            <a:ext cx="320040" cy="320040"/>
          </a:xfrm>
          <a:prstGeom prst="rightArrow">
            <a:avLst/>
          </a:prstGeom>
          <a:solidFill>
            <a:srgbClr val="0070D2"/>
          </a:solidFill>
          <a:ln w="12700">
            <a:solidFill>
              <a:srgbClr val="0070D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75504" y="1234440"/>
            <a:ext cx="2057400" cy="1783080"/>
          </a:xfrm>
          <a:prstGeom prst="rect">
            <a:avLst>
              <a:gd name="adj" fmla="val 4103"/>
            </a:avLst>
          </a:prstGeom>
          <a:solidFill>
            <a:srgbClr val="EAF3FB"/>
          </a:solidFill>
          <a:ln w="19050">
            <a:solidFill>
              <a:srgbClr val="0070D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75504" y="132588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🤖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175504" y="192024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Call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232904" y="1810512"/>
            <a:ext cx="320040" cy="320040"/>
          </a:xfrm>
          <a:prstGeom prst="rightArrow">
            <a:avLst/>
          </a:prstGeom>
          <a:solidFill>
            <a:srgbClr val="0070D2"/>
          </a:solidFill>
          <a:ln w="12700">
            <a:solidFill>
              <a:srgbClr val="0070D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34656" y="1234440"/>
            <a:ext cx="2057400" cy="1783080"/>
          </a:xfrm>
          <a:prstGeom prst="rect">
            <a:avLst>
              <a:gd name="adj" fmla="val 4103"/>
            </a:avLst>
          </a:prstGeom>
          <a:solidFill>
            <a:srgbClr val="EAF3FB"/>
          </a:solidFill>
          <a:ln w="19050">
            <a:solidFill>
              <a:srgbClr val="0070D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34656" y="132588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📋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534656" y="192024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(MD)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592056" y="1810512"/>
            <a:ext cx="320040" cy="320040"/>
          </a:xfrm>
          <a:prstGeom prst="rightArrow">
            <a:avLst/>
          </a:prstGeom>
          <a:solidFill>
            <a:srgbClr val="0070D2"/>
          </a:solidFill>
          <a:ln w="12700">
            <a:solidFill>
              <a:srgbClr val="0070D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893808" y="1234440"/>
            <a:ext cx="2057400" cy="1783080"/>
          </a:xfrm>
          <a:prstGeom prst="rect">
            <a:avLst>
              <a:gd name="adj" fmla="val 4103"/>
            </a:avLst>
          </a:prstGeom>
          <a:solidFill>
            <a:srgbClr val="EAF3FB"/>
          </a:solidFill>
          <a:ln w="19050">
            <a:solidFill>
              <a:srgbClr val="0070D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93808" y="132588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🧪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9893808" y="192024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(.ts)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246120"/>
            <a:ext cx="402336" cy="402336"/>
          </a:xfrm>
          <a:prstGeom prst="rect">
            <a:avLst>
              <a:gd name="adj" fmla="val 13636"/>
            </a:avLst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64408"/>
            <a:ext cx="402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🔁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14400" y="3264408"/>
            <a:ext cx="10698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Smart Change Detection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14400" y="3502152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E4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MD5 hashing of each user story. Only regenerates tests when a story is new or modified — no wasted API calls.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4023360"/>
            <a:ext cx="402336" cy="402336"/>
          </a:xfrm>
          <a:prstGeom prst="rect">
            <a:avLst>
              <a:gd name="adj" fmla="val 13636"/>
            </a:avLst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041648"/>
            <a:ext cx="402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🏷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914400" y="4041648"/>
            <a:ext cx="10698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  Marker-Based Injection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14400" y="4279392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E4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test blocks are wrapped in // ── US-013 START/END ── markers, enabling safe in-place replacement.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65760" y="4800600"/>
            <a:ext cx="402336" cy="402336"/>
          </a:xfrm>
          <a:prstGeom prst="rect">
            <a:avLst>
              <a:gd name="adj" fmla="val 13636"/>
            </a:avLst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818888"/>
            <a:ext cx="402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914400" y="4818888"/>
            <a:ext cx="10698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Output: Scenario Tables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14400" y="5056632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E4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produces a markdown table (TC ID · Scenario · Expected Result · AC Ref) for each object before writing code.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65760" y="5577840"/>
            <a:ext cx="402336" cy="402336"/>
          </a:xfrm>
          <a:prstGeom prst="rect">
            <a:avLst>
              <a:gd name="adj" fmla="val 13636"/>
            </a:avLst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5596128"/>
            <a:ext cx="402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⚡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914400" y="5596128"/>
            <a:ext cx="10698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Zero Manual Effort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914400" y="5833872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E4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user stories → 44 TypeScript test cases generated automatically, ready to execute.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0070D2"/>
          </a:solidFill>
          <a:ln w="12700">
            <a:solidFill>
              <a:srgbClr val="0070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A1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CAPABILITY 2 OF 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384048"/>
            <a:ext cx="11338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Self-Healing for Failed Tests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87552"/>
            <a:ext cx="11338560" cy="27432"/>
          </a:xfrm>
          <a:prstGeom prst="rect">
            <a:avLst/>
          </a:prstGeom>
          <a:solidFill>
            <a:srgbClr val="0070D2"/>
          </a:solidFill>
          <a:ln w="12700">
            <a:solidFill>
              <a:srgbClr val="0070D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371600"/>
            <a:ext cx="2194560" cy="1554480"/>
          </a:xfrm>
          <a:prstGeom prst="rect">
            <a:avLst>
              <a:gd name="adj" fmla="val 4706"/>
            </a:avLst>
          </a:prstGeom>
          <a:solidFill>
            <a:srgbClr val="EAF3FB"/>
          </a:solidFill>
          <a:ln w="19050">
            <a:solidFill>
              <a:srgbClr val="0070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5087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65760" y="20574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Fails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60320" y="1938528"/>
            <a:ext cx="347472" cy="347472"/>
          </a:xfrm>
          <a:prstGeom prst="rightArrow">
            <a:avLst/>
          </a:prstGeom>
          <a:solidFill>
            <a:srgbClr val="0070D2"/>
          </a:solidFill>
          <a:ln w="12700">
            <a:solidFill>
              <a:srgbClr val="0070D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17520" y="1371600"/>
            <a:ext cx="2194560" cy="1554480"/>
          </a:xfrm>
          <a:prstGeom prst="rect">
            <a:avLst>
              <a:gd name="adj" fmla="val 4706"/>
            </a:avLst>
          </a:prstGeom>
          <a:solidFill>
            <a:srgbClr val="EAF3FB"/>
          </a:solidFill>
          <a:ln w="19050">
            <a:solidFill>
              <a:srgbClr val="0070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0" y="15087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📤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017520" y="20574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+ Code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to Claude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212080" y="1938528"/>
            <a:ext cx="347472" cy="347472"/>
          </a:xfrm>
          <a:prstGeom prst="rightArrow">
            <a:avLst/>
          </a:prstGeom>
          <a:solidFill>
            <a:srgbClr val="0070D2"/>
          </a:solidFill>
          <a:ln w="12700">
            <a:solidFill>
              <a:srgbClr val="0070D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23560" y="1371600"/>
            <a:ext cx="2194560" cy="1554480"/>
          </a:xfrm>
          <a:prstGeom prst="rect">
            <a:avLst>
              <a:gd name="adj" fmla="val 4706"/>
            </a:avLst>
          </a:prstGeom>
          <a:solidFill>
            <a:srgbClr val="EAF3FB"/>
          </a:solidFill>
          <a:ln w="19050">
            <a:solidFill>
              <a:srgbClr val="E8610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23560" y="15087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🤖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623560" y="20574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Analyses &amp; Fixes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818120" y="1938528"/>
            <a:ext cx="347472" cy="347472"/>
          </a:xfrm>
          <a:prstGeom prst="rightArrow">
            <a:avLst/>
          </a:prstGeom>
          <a:solidFill>
            <a:srgbClr val="0070D2"/>
          </a:solidFill>
          <a:ln w="12700">
            <a:solidFill>
              <a:srgbClr val="0070D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75320" y="1371600"/>
            <a:ext cx="2194560" cy="1554480"/>
          </a:xfrm>
          <a:prstGeom prst="rect">
            <a:avLst>
              <a:gd name="adj" fmla="val 4706"/>
            </a:avLst>
          </a:prstGeom>
          <a:solidFill>
            <a:srgbClr val="EAF3FB"/>
          </a:solidFill>
          <a:ln w="19050">
            <a:solidFill>
              <a:srgbClr val="0070D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75320" y="15087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🔧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275320" y="20574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Applied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Spec File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0469880" y="1938528"/>
            <a:ext cx="347472" cy="347472"/>
          </a:xfrm>
          <a:prstGeom prst="rightArrow">
            <a:avLst/>
          </a:prstGeom>
          <a:solidFill>
            <a:srgbClr val="0070D2"/>
          </a:solidFill>
          <a:ln w="12700">
            <a:solidFill>
              <a:srgbClr val="0070D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58400" y="1371600"/>
            <a:ext cx="2194560" cy="1554480"/>
          </a:xfrm>
          <a:prstGeom prst="rect">
            <a:avLst>
              <a:gd name="adj" fmla="val 4706"/>
            </a:avLst>
          </a:prstGeom>
          <a:solidFill>
            <a:srgbClr val="EAF3FB"/>
          </a:solidFill>
          <a:ln w="19050">
            <a:solidFill>
              <a:srgbClr val="0070D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0" y="15087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✅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0058400" y="20574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" y="301752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3 retry rounds — reverts if still failing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3364992"/>
            <a:ext cx="402336" cy="402336"/>
          </a:xfrm>
          <a:prstGeom prst="rect">
            <a:avLst>
              <a:gd name="adj" fmla="val 13636"/>
            </a:avLst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383280"/>
            <a:ext cx="402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🎯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14400" y="3383280"/>
            <a:ext cx="10698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Targeted Repair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14400" y="3611880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E4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failing test block is extracted and sent — surgical fix, not a full file rewrite.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4114800"/>
            <a:ext cx="402336" cy="402336"/>
          </a:xfrm>
          <a:prstGeom prst="rect">
            <a:avLst>
              <a:gd name="adj" fmla="val 13636"/>
            </a:avLst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133088"/>
            <a:ext cx="402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🧠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14400" y="4133088"/>
            <a:ext cx="10698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Context-Rich Prompt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14400" y="4361688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E4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receives: error message, stack trace, the failing test code, and Salesforce DOM context.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4864608"/>
            <a:ext cx="402336" cy="402336"/>
          </a:xfrm>
          <a:prstGeom prst="rect">
            <a:avLst>
              <a:gd name="adj" fmla="val 13636"/>
            </a:avLst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882896"/>
            <a:ext cx="402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🔐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914400" y="4882896"/>
            <a:ext cx="10698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Safety First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14400" y="5111496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E4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re-run still fails after 3 rounds, the original code is restored and failure is logged.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5760" y="5614416"/>
            <a:ext cx="402336" cy="402336"/>
          </a:xfrm>
          <a:prstGeom prst="rect">
            <a:avLst>
              <a:gd name="adj" fmla="val 13636"/>
            </a:avLst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5632704"/>
            <a:ext cx="402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📋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914400" y="5632704"/>
            <a:ext cx="10698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Healing Report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914400" y="5861304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E4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fix attempt is documented in reports/healing-report.md for audit and review.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0070D2"/>
          </a:solidFill>
          <a:ln w="12700">
            <a:solidFill>
              <a:srgbClr val="0070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A1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384048"/>
            <a:ext cx="11338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7-Step Automated Pipeline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87552"/>
            <a:ext cx="11338560" cy="27432"/>
          </a:xfrm>
          <a:prstGeom prst="rect">
            <a:avLst/>
          </a:prstGeom>
          <a:solidFill>
            <a:srgbClr val="0070D2"/>
          </a:solidFill>
          <a:ln w="12700">
            <a:solidFill>
              <a:srgbClr val="0070D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170432"/>
            <a:ext cx="502920" cy="502920"/>
          </a:xfrm>
          <a:prstGeom prst="ellipse">
            <a:avLst/>
          </a:prstGeom>
          <a:solidFill>
            <a:srgbClr val="00A1BE"/>
          </a:solidFill>
          <a:ln w="12700">
            <a:solidFill>
              <a:srgbClr val="00A1B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18872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92608" y="1737360"/>
            <a:ext cx="1554480" cy="1828800"/>
          </a:xfrm>
          <a:prstGeom prst="rect">
            <a:avLst>
              <a:gd name="adj" fmla="val 4706"/>
            </a:avLst>
          </a:prstGeom>
          <a:solidFill>
            <a:srgbClr val="F4F6F9"/>
          </a:solidFill>
          <a:ln w="19050">
            <a:solidFill>
              <a:srgbClr val="00A1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" y="18288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🤖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92608" y="233172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28800" y="2359152"/>
            <a:ext cx="256032" cy="256032"/>
          </a:xfrm>
          <a:prstGeom prst="rightArrow">
            <a:avLst/>
          </a:prstGeom>
          <a:solidFill>
            <a:srgbClr val="6E7A8A"/>
          </a:solidFill>
          <a:ln w="12700">
            <a:solidFill>
              <a:srgbClr val="6E7A8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42032" y="1170432"/>
            <a:ext cx="502920" cy="502920"/>
          </a:xfrm>
          <a:prstGeom prst="ellipse">
            <a:avLst/>
          </a:prstGeom>
          <a:solidFill>
            <a:srgbClr val="0070D2"/>
          </a:solidFill>
          <a:ln w="12700">
            <a:solidFill>
              <a:srgbClr val="0070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42032" y="118872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011680" y="1737360"/>
            <a:ext cx="1554480" cy="1828800"/>
          </a:xfrm>
          <a:prstGeom prst="rect">
            <a:avLst>
              <a:gd name="adj" fmla="val 4706"/>
            </a:avLst>
          </a:prstGeom>
          <a:solidFill>
            <a:srgbClr val="F4F6F9"/>
          </a:solidFill>
          <a:ln w="19050">
            <a:solidFill>
              <a:srgbClr val="0070D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11680" y="18288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📋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011680" y="233172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547872" y="2359152"/>
            <a:ext cx="256032" cy="256032"/>
          </a:xfrm>
          <a:prstGeom prst="rightArrow">
            <a:avLst/>
          </a:prstGeom>
          <a:solidFill>
            <a:srgbClr val="6E7A8A"/>
          </a:solidFill>
          <a:ln w="12700">
            <a:solidFill>
              <a:srgbClr val="6E7A8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61104" y="1170432"/>
            <a:ext cx="502920" cy="502920"/>
          </a:xfrm>
          <a:prstGeom prst="ellipse">
            <a:avLst/>
          </a:prstGeom>
          <a:solidFill>
            <a:srgbClr val="0070D2"/>
          </a:solidFill>
          <a:ln w="12700">
            <a:solidFill>
              <a:srgbClr val="0070D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61104" y="118872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730752" y="1737360"/>
            <a:ext cx="1554480" cy="1828800"/>
          </a:xfrm>
          <a:prstGeom prst="rect">
            <a:avLst>
              <a:gd name="adj" fmla="val 4706"/>
            </a:avLst>
          </a:prstGeom>
          <a:solidFill>
            <a:srgbClr val="F4F6F9"/>
          </a:solidFill>
          <a:ln w="19050">
            <a:solidFill>
              <a:srgbClr val="0070D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30752" y="18288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📝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3730752" y="233172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Plan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266944" y="2359152"/>
            <a:ext cx="256032" cy="256032"/>
          </a:xfrm>
          <a:prstGeom prst="rightArrow">
            <a:avLst/>
          </a:prstGeom>
          <a:solidFill>
            <a:srgbClr val="6E7A8A"/>
          </a:solidFill>
          <a:ln w="12700">
            <a:solidFill>
              <a:srgbClr val="6E7A8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80176" y="1170432"/>
            <a:ext cx="502920" cy="502920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80176" y="118872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49824" y="1737360"/>
            <a:ext cx="1554480" cy="1828800"/>
          </a:xfrm>
          <a:prstGeom prst="rect">
            <a:avLst>
              <a:gd name="adj" fmla="val 4706"/>
            </a:avLst>
          </a:prstGeom>
          <a:solidFill>
            <a:srgbClr val="F4F6F9"/>
          </a:solidFill>
          <a:ln w="19050">
            <a:solidFill>
              <a:srgbClr val="0033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49824" y="18288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▶️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5449824" y="233172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Tests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986016" y="2359152"/>
            <a:ext cx="256032" cy="256032"/>
          </a:xfrm>
          <a:prstGeom prst="rightArrow">
            <a:avLst/>
          </a:prstGeom>
          <a:solidFill>
            <a:srgbClr val="6E7A8A"/>
          </a:solidFill>
          <a:ln w="12700">
            <a:solidFill>
              <a:srgbClr val="6E7A8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699248" y="1170432"/>
            <a:ext cx="502920" cy="502920"/>
          </a:xfrm>
          <a:prstGeom prst="ellipse">
            <a:avLst/>
          </a:prstGeom>
          <a:solidFill>
            <a:srgbClr val="E8610C"/>
          </a:solidFill>
          <a:ln w="12700">
            <a:solidFill>
              <a:srgbClr val="E8610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99248" y="118872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168896" y="1737360"/>
            <a:ext cx="1554480" cy="1828800"/>
          </a:xfrm>
          <a:prstGeom prst="rect">
            <a:avLst>
              <a:gd name="adj" fmla="val 4706"/>
            </a:avLst>
          </a:prstGeom>
          <a:solidFill>
            <a:srgbClr val="F4F6F9"/>
          </a:solidFill>
          <a:ln w="19050">
            <a:solidFill>
              <a:srgbClr val="E8610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68896" y="18288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🔧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7168896" y="233172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705088" y="2359152"/>
            <a:ext cx="256032" cy="256032"/>
          </a:xfrm>
          <a:prstGeom prst="rightArrow">
            <a:avLst/>
          </a:prstGeom>
          <a:solidFill>
            <a:srgbClr val="6E7A8A"/>
          </a:solidFill>
          <a:ln w="12700">
            <a:solidFill>
              <a:srgbClr val="6E7A8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418320" y="1170432"/>
            <a:ext cx="502920" cy="502920"/>
          </a:xfrm>
          <a:prstGeom prst="ellipse">
            <a:avLst/>
          </a:prstGeom>
          <a:solidFill>
            <a:srgbClr val="2E844A"/>
          </a:solidFill>
          <a:ln w="12700">
            <a:solidFill>
              <a:srgbClr val="2E84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418320" y="118872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8887968" y="1737360"/>
            <a:ext cx="1554480" cy="1828800"/>
          </a:xfrm>
          <a:prstGeom prst="rect">
            <a:avLst>
              <a:gd name="adj" fmla="val 4706"/>
            </a:avLst>
          </a:prstGeom>
          <a:solidFill>
            <a:srgbClr val="F4F6F9"/>
          </a:solidFill>
          <a:ln w="19050">
            <a:solidFill>
              <a:srgbClr val="2E84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887968" y="18288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📦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8887968" y="233172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Scripts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10424160" y="2359152"/>
            <a:ext cx="256032" cy="256032"/>
          </a:xfrm>
          <a:prstGeom prst="rightArrow">
            <a:avLst/>
          </a:prstGeom>
          <a:solidFill>
            <a:srgbClr val="6E7A8A"/>
          </a:solidFill>
          <a:ln w="12700">
            <a:solidFill>
              <a:srgbClr val="6E7A8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1137392" y="1170432"/>
            <a:ext cx="502920" cy="502920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1137392" y="118872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10607040" y="1737360"/>
            <a:ext cx="1554480" cy="1828800"/>
          </a:xfrm>
          <a:prstGeom prst="rect">
            <a:avLst>
              <a:gd name="adj" fmla="val 4706"/>
            </a:avLst>
          </a:prstGeom>
          <a:solidFill>
            <a:srgbClr val="F4F6F9"/>
          </a:solidFill>
          <a:ln w="19050">
            <a:solidFill>
              <a:srgbClr val="00336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607040" y="18288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🚀</a:t>
            </a:r>
            <a:endParaRPr lang="en-US" sz="2000" dirty="0"/>
          </a:p>
        </p:txBody>
      </p:sp>
      <p:sp>
        <p:nvSpPr>
          <p:cNvPr id="48" name="Text 46"/>
          <p:cNvSpPr/>
          <p:nvPr/>
        </p:nvSpPr>
        <p:spPr>
          <a:xfrm>
            <a:off x="10607040" y="233172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65760" y="3840480"/>
            <a:ext cx="11430000" cy="475488"/>
          </a:xfrm>
          <a:prstGeom prst="rect">
            <a:avLst>
              <a:gd name="adj" fmla="val 11538"/>
            </a:avLst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5760" y="3867912"/>
            <a:ext cx="11430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7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npm run pipeline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365760" y="4425696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command triggers the full lifecycle — from AI test generation through execution, self-healing, and Git push.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365760" y="4892040"/>
            <a:ext cx="5440680" cy="1508760"/>
          </a:xfrm>
          <a:prstGeom prst="rect">
            <a:avLst>
              <a:gd name="adj" fmla="val 4848"/>
            </a:avLst>
          </a:prstGeom>
          <a:solidFill>
            <a:srgbClr val="EAF3FB"/>
          </a:solidFill>
          <a:ln w="19050">
            <a:solidFill>
              <a:srgbClr val="0070D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30352" y="49834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Live State Tracking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30352" y="5285232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E4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writes its status, detail, and timestamp to pipeline-state.json — enabling real-time dashboard updates and post-run audits.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172200" y="4892040"/>
            <a:ext cx="5440680" cy="1508760"/>
          </a:xfrm>
          <a:prstGeom prst="rect">
            <a:avLst>
              <a:gd name="adj" fmla="val 4848"/>
            </a:avLst>
          </a:prstGeom>
          <a:solidFill>
            <a:srgbClr val="EAF3FB"/>
          </a:solidFill>
          <a:ln w="19050">
            <a:solidFill>
              <a:srgbClr val="0070D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36792" y="49834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Config-Driven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336792" y="5285232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E4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the app by editing framework-config.json. The entire pipeline adapts — no code changes required to target a different Salesforce org or module.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0070D2"/>
          </a:solidFill>
          <a:ln w="12700">
            <a:solidFill>
              <a:srgbClr val="0070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A1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384048"/>
            <a:ext cx="11338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HTML Dashboard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87552"/>
            <a:ext cx="11338560" cy="27432"/>
          </a:xfrm>
          <a:prstGeom prst="rect">
            <a:avLst/>
          </a:prstGeom>
          <a:solidFill>
            <a:srgbClr val="0070D2"/>
          </a:solidFill>
          <a:ln w="12700">
            <a:solidFill>
              <a:srgbClr val="0070D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143000"/>
            <a:ext cx="5577840" cy="1508760"/>
          </a:xfrm>
          <a:prstGeom prst="rect">
            <a:avLst>
              <a:gd name="adj" fmla="val 4848"/>
            </a:avLst>
          </a:prstGeom>
          <a:solidFill>
            <a:srgbClr val="F4F6F9"/>
          </a:solidFill>
          <a:ln w="19050">
            <a:solidFill>
              <a:srgbClr val="00A1B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280160"/>
            <a:ext cx="411480" cy="411480"/>
          </a:xfrm>
          <a:prstGeom prst="rect">
            <a:avLst>
              <a:gd name="adj" fmla="val 13333"/>
            </a:avLst>
          </a:prstGeom>
          <a:solidFill>
            <a:srgbClr val="00A1BE"/>
          </a:solidFill>
          <a:ln w="12700">
            <a:solidFill>
              <a:srgbClr val="00A1B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298448"/>
            <a:ext cx="4114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78408" y="130759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Per-Module Pass/Fail Rates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" y="1673352"/>
            <a:ext cx="5257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E4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card per object (Account · Contact · Opportunity · Quote) showing pass counts, fail counts, and percentage.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1143000"/>
            <a:ext cx="5577840" cy="1508760"/>
          </a:xfrm>
          <a:prstGeom prst="rect">
            <a:avLst>
              <a:gd name="adj" fmla="val 4848"/>
            </a:avLst>
          </a:prstGeom>
          <a:solidFill>
            <a:srgbClr val="F4F6F9"/>
          </a:solidFill>
          <a:ln w="19050">
            <a:solidFill>
              <a:srgbClr val="00A1B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55080" y="1280160"/>
            <a:ext cx="411480" cy="411480"/>
          </a:xfrm>
          <a:prstGeom prst="rect">
            <a:avLst>
              <a:gd name="adj" fmla="val 13333"/>
            </a:avLst>
          </a:prstGeom>
          <a:solidFill>
            <a:srgbClr val="00A1BE"/>
          </a:solidFill>
          <a:ln w="12700">
            <a:solidFill>
              <a:srgbClr val="00A1B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1298448"/>
            <a:ext cx="4114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🔴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876288" y="130759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Test Status Icons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82512" y="1673352"/>
            <a:ext cx="5257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E4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test case shows ✅ passed · ❌ failed · ⏭ skipped, updated after every run.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2834640"/>
            <a:ext cx="5577840" cy="1508760"/>
          </a:xfrm>
          <a:prstGeom prst="rect">
            <a:avLst>
              <a:gd name="adj" fmla="val 4848"/>
            </a:avLst>
          </a:prstGeom>
          <a:solidFill>
            <a:srgbClr val="F4F6F9"/>
          </a:solidFill>
          <a:ln w="19050">
            <a:solidFill>
              <a:srgbClr val="00A1B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971800"/>
            <a:ext cx="411480" cy="411480"/>
          </a:xfrm>
          <a:prstGeom prst="rect">
            <a:avLst>
              <a:gd name="adj" fmla="val 13333"/>
            </a:avLst>
          </a:prstGeom>
          <a:solidFill>
            <a:srgbClr val="00A1BE"/>
          </a:solidFill>
          <a:ln w="12700">
            <a:solidFill>
              <a:srgbClr val="00A1B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990088"/>
            <a:ext cx="4114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📝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78408" y="299923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Log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4632" y="3364992"/>
            <a:ext cx="5257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E4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40-entry rotating buffer capturing every test event with timestamp, giving a full chronological audit trail.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17920" y="2834640"/>
            <a:ext cx="5577840" cy="1508760"/>
          </a:xfrm>
          <a:prstGeom prst="rect">
            <a:avLst>
              <a:gd name="adj" fmla="val 4848"/>
            </a:avLst>
          </a:prstGeom>
          <a:solidFill>
            <a:srgbClr val="F4F6F9"/>
          </a:solidFill>
          <a:ln w="19050">
            <a:solidFill>
              <a:srgbClr val="00A1B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55080" y="2971800"/>
            <a:ext cx="411480" cy="411480"/>
          </a:xfrm>
          <a:prstGeom prst="rect">
            <a:avLst>
              <a:gd name="adj" fmla="val 13333"/>
            </a:avLst>
          </a:prstGeom>
          <a:solidFill>
            <a:srgbClr val="00A1BE"/>
          </a:solidFill>
          <a:ln w="12700">
            <a:solidFill>
              <a:srgbClr val="00A1B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080" y="2990088"/>
            <a:ext cx="4114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🔧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876288" y="299923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Step Progress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82512" y="3364992"/>
            <a:ext cx="5257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E4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7-step progress tracker with timestamps — see exactly where the pipeline is at a glance.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4526280"/>
            <a:ext cx="5577840" cy="1508760"/>
          </a:xfrm>
          <a:prstGeom prst="rect">
            <a:avLst>
              <a:gd name="adj" fmla="val 4848"/>
            </a:avLst>
          </a:prstGeom>
          <a:solidFill>
            <a:srgbClr val="F4F6F9"/>
          </a:solidFill>
          <a:ln w="19050">
            <a:solidFill>
              <a:srgbClr val="00A1B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4663440"/>
            <a:ext cx="411480" cy="411480"/>
          </a:xfrm>
          <a:prstGeom prst="rect">
            <a:avLst>
              <a:gd name="adj" fmla="val 13333"/>
            </a:avLst>
          </a:prstGeom>
          <a:solidFill>
            <a:srgbClr val="00A1BE"/>
          </a:solidFill>
          <a:ln w="12700">
            <a:solidFill>
              <a:srgbClr val="00A1B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681728"/>
            <a:ext cx="4114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❗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78408" y="469087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Snippets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4632" y="5056632"/>
            <a:ext cx="5257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E4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tests show the first 100 characters of the error message directly on the dashboard card.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17920" y="4526280"/>
            <a:ext cx="5577840" cy="1508760"/>
          </a:xfrm>
          <a:prstGeom prst="rect">
            <a:avLst>
              <a:gd name="adj" fmla="val 4848"/>
            </a:avLst>
          </a:prstGeom>
          <a:solidFill>
            <a:srgbClr val="F4F6F9"/>
          </a:solidFill>
          <a:ln w="19050">
            <a:solidFill>
              <a:srgbClr val="00A1B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55080" y="4663440"/>
            <a:ext cx="411480" cy="411480"/>
          </a:xfrm>
          <a:prstGeom prst="rect">
            <a:avLst>
              <a:gd name="adj" fmla="val 13333"/>
            </a:avLst>
          </a:prstGeom>
          <a:solidFill>
            <a:srgbClr val="00A1BE"/>
          </a:solidFill>
          <a:ln w="12700">
            <a:solidFill>
              <a:srgbClr val="00A1B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55080" y="4681728"/>
            <a:ext cx="4114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📁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876288" y="469087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Extra Server Needed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382512" y="5056632"/>
            <a:ext cx="5257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E4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is a single self-contained HTML file at reports/dashboard.html — open in any browser.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0070D2"/>
          </a:solidFill>
          <a:ln w="12700">
            <a:solidFill>
              <a:srgbClr val="0070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A1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384048"/>
            <a:ext cx="11338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Results &amp; Coverage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87552"/>
            <a:ext cx="11338560" cy="27432"/>
          </a:xfrm>
          <a:prstGeom prst="rect">
            <a:avLst/>
          </a:prstGeom>
          <a:solidFill>
            <a:srgbClr val="0070D2"/>
          </a:solidFill>
          <a:ln w="12700">
            <a:solidFill>
              <a:srgbClr val="0070D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143000"/>
            <a:ext cx="2194560" cy="1691640"/>
          </a:xfrm>
          <a:prstGeom prst="rect">
            <a:avLst>
              <a:gd name="adj" fmla="val 4324"/>
            </a:avLst>
          </a:prstGeom>
          <a:solidFill>
            <a:srgbClr val="F4F6F9"/>
          </a:solidFill>
          <a:ln w="19050">
            <a:solidFill>
              <a:srgbClr val="0070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1887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🧪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20040" y="1664208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7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20040" y="22860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E4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Tests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15768" y="1143000"/>
            <a:ext cx="2194560" cy="1691640"/>
          </a:xfrm>
          <a:prstGeom prst="rect">
            <a:avLst>
              <a:gd name="adj" fmla="val 4324"/>
            </a:avLst>
          </a:prstGeom>
          <a:solidFill>
            <a:srgbClr val="F4F6F9"/>
          </a:solidFill>
          <a:ln w="19050">
            <a:solidFill>
              <a:srgbClr val="2E84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15768" y="11887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✅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715768" y="1664208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8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2715768" y="22860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E4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Rate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111496" y="1143000"/>
            <a:ext cx="2194560" cy="1691640"/>
          </a:xfrm>
          <a:prstGeom prst="rect">
            <a:avLst>
              <a:gd name="adj" fmla="val 4324"/>
            </a:avLst>
          </a:prstGeom>
          <a:solidFill>
            <a:srgbClr val="F4F6F9"/>
          </a:solidFill>
          <a:ln w="19050">
            <a:solidFill>
              <a:srgbClr val="00A1B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11496" y="11887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☁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111496" y="1664208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A1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5111496" y="22860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E4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 Modules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507224" y="1143000"/>
            <a:ext cx="2194560" cy="1691640"/>
          </a:xfrm>
          <a:prstGeom prst="rect">
            <a:avLst>
              <a:gd name="adj" fmla="val 4324"/>
            </a:avLst>
          </a:prstGeom>
          <a:solidFill>
            <a:srgbClr val="F4F6F9"/>
          </a:solidFill>
          <a:ln w="19050">
            <a:solidFill>
              <a:srgbClr val="0033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07224" y="11887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📄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507224" y="1664208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7507224" y="22860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E4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902952" y="1143000"/>
            <a:ext cx="2194560" cy="1691640"/>
          </a:xfrm>
          <a:prstGeom prst="rect">
            <a:avLst>
              <a:gd name="adj" fmla="val 4324"/>
            </a:avLst>
          </a:prstGeom>
          <a:solidFill>
            <a:srgbClr val="F4F6F9"/>
          </a:solidFill>
          <a:ln w="19050">
            <a:solidFill>
              <a:srgbClr val="E8610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902952" y="11887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❌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902952" y="1664208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6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9902952" y="22860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E4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2999232"/>
            <a:ext cx="11521440" cy="384048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035808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Module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840480" y="3035808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035040" y="3035808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 Covered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326880" y="3035808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20040" y="3419856"/>
            <a:ext cx="11521440" cy="566928"/>
          </a:xfrm>
          <a:prstGeom prst="rect">
            <a:avLst/>
          </a:prstGeom>
          <a:solidFill>
            <a:srgbClr val="F4F6F9"/>
          </a:solidFill>
          <a:ln w="6350">
            <a:solidFill>
              <a:srgbClr val="F4F6F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3557016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4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840480" y="355701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4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035040" y="3557016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4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· Edit · Delete · Search · Validation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326880" y="3557016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All Passing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20040" y="4041648"/>
            <a:ext cx="115214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F4F6F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17880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4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840480" y="417880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4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035040" y="417880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4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· Edit · Link to Account · Role Assignment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326880" y="417880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All Passing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20040" y="4663440"/>
            <a:ext cx="11521440" cy="566928"/>
          </a:xfrm>
          <a:prstGeom prst="rect">
            <a:avLst/>
          </a:prstGeom>
          <a:solidFill>
            <a:srgbClr val="F4F6F9"/>
          </a:solidFill>
          <a:ln w="6350">
            <a:solidFill>
              <a:srgbClr val="F4F6F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48006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4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840480" y="48006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4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035040" y="48006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4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· Stage Transitions · Forecasting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9326880" y="48006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All Passing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20040" y="5285232"/>
            <a:ext cx="115214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F4F6F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542239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4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(CPQ)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3840480" y="542239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4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035040" y="542239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4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CPQ Quote Lifecycle · Line Items · Approval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9326880" y="542239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All Passing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0070D2"/>
          </a:solidFill>
          <a:ln w="12700">
            <a:solidFill>
              <a:srgbClr val="0070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A1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HIGHLIGHTS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384048"/>
            <a:ext cx="11338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Handled Salesforce Complexity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87552"/>
            <a:ext cx="11338560" cy="27432"/>
          </a:xfrm>
          <a:prstGeom prst="rect">
            <a:avLst/>
          </a:prstGeom>
          <a:solidFill>
            <a:srgbClr val="0070D2"/>
          </a:solidFill>
          <a:ln w="12700">
            <a:solidFill>
              <a:srgbClr val="0070D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143000"/>
            <a:ext cx="5577840" cy="1572768"/>
          </a:xfrm>
          <a:prstGeom prst="rect">
            <a:avLst>
              <a:gd name="adj" fmla="val 4651"/>
            </a:avLst>
          </a:prstGeom>
          <a:solidFill>
            <a:srgbClr val="F4F6F9"/>
          </a:solidFill>
          <a:ln w="19050">
            <a:solidFill>
              <a:srgbClr val="00336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280160"/>
            <a:ext cx="402336" cy="402336"/>
          </a:xfrm>
          <a:prstGeom prst="rect">
            <a:avLst>
              <a:gd name="adj" fmla="val 13636"/>
            </a:avLst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298448"/>
            <a:ext cx="402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🕸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78408" y="129844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DOM &amp; LWC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" y="1664208"/>
            <a:ext cx="5257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E4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SalesforceFormHandler.ts uses a 4-strategy fallback (ARIA role → Label → DOM walk → aria-label) to reliably fill Lightning Web Component fields — no brittle XPath.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63640" y="1143000"/>
            <a:ext cx="5577840" cy="1572768"/>
          </a:xfrm>
          <a:prstGeom prst="rect">
            <a:avLst>
              <a:gd name="adj" fmla="val 4651"/>
            </a:avLst>
          </a:prstGeom>
          <a:solidFill>
            <a:srgbClr val="F4F6F9"/>
          </a:solidFill>
          <a:ln w="19050">
            <a:solidFill>
              <a:srgbClr val="00336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80160"/>
            <a:ext cx="402336" cy="402336"/>
          </a:xfrm>
          <a:prstGeom prst="rect">
            <a:avLst>
              <a:gd name="adj" fmla="val 13636"/>
            </a:avLst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1298448"/>
            <a:ext cx="402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⏳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922008" y="129844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Waits (No networkidle)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28232" y="1664208"/>
            <a:ext cx="5257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E4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never reaches networkidle state. We wait for specific SLDS landmark elements (.slds-page-header) instead, eliminating thousands of timeout failures.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2880360"/>
            <a:ext cx="5577840" cy="1572768"/>
          </a:xfrm>
          <a:prstGeom prst="rect">
            <a:avLst>
              <a:gd name="adj" fmla="val 4651"/>
            </a:avLst>
          </a:prstGeom>
          <a:solidFill>
            <a:srgbClr val="F4F6F9"/>
          </a:solidFill>
          <a:ln w="19050">
            <a:solidFill>
              <a:srgbClr val="00336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017520"/>
            <a:ext cx="402336" cy="402336"/>
          </a:xfrm>
          <a:prstGeom prst="rect">
            <a:avLst>
              <a:gd name="adj" fmla="val 13636"/>
            </a:avLst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035808"/>
            <a:ext cx="402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🔒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78408" y="303580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Caching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4632" y="3401568"/>
            <a:ext cx="5257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E4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auth/session.json stores the authenticated Salesforce session via Playwright storageState. Tests skip login entirely — saving 10–20 s per test run.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63640" y="2880360"/>
            <a:ext cx="5577840" cy="1572768"/>
          </a:xfrm>
          <a:prstGeom prst="rect">
            <a:avLst>
              <a:gd name="adj" fmla="val 4651"/>
            </a:avLst>
          </a:prstGeom>
          <a:solidFill>
            <a:srgbClr val="F4F6F9"/>
          </a:solidFill>
          <a:ln w="19050">
            <a:solidFill>
              <a:srgbClr val="0033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0" y="3017520"/>
            <a:ext cx="402336" cy="402336"/>
          </a:xfrm>
          <a:prstGeom prst="rect">
            <a:avLst>
              <a:gd name="adj" fmla="val 13636"/>
            </a:avLst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3035808"/>
            <a:ext cx="402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💥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922008" y="303580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 Error Dismissal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28232" y="3401568"/>
            <a:ext cx="5257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E4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global beforeEach hook detects and closes Salesforce's "Sorry to interrupt" (#auraError) overlay before every test, preventing ghost failures.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4617720"/>
            <a:ext cx="5577840" cy="1572768"/>
          </a:xfrm>
          <a:prstGeom prst="rect">
            <a:avLst>
              <a:gd name="adj" fmla="val 4651"/>
            </a:avLst>
          </a:prstGeom>
          <a:solidFill>
            <a:srgbClr val="F4F6F9"/>
          </a:solidFill>
          <a:ln w="19050">
            <a:solidFill>
              <a:srgbClr val="00336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4754880"/>
            <a:ext cx="402336" cy="402336"/>
          </a:xfrm>
          <a:prstGeom prst="rect">
            <a:avLst>
              <a:gd name="adj" fmla="val 13636"/>
            </a:avLst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773168"/>
            <a:ext cx="402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📦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78408" y="477316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Config-Driven Portability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4632" y="5138928"/>
            <a:ext cx="5257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E4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framework-config.json defines all objects, spec files, icons, and colors. Swap it to a new Salesforce org — zero code changes required.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63640" y="4617720"/>
            <a:ext cx="5577840" cy="1572768"/>
          </a:xfrm>
          <a:prstGeom prst="rect">
            <a:avLst>
              <a:gd name="adj" fmla="val 4651"/>
            </a:avLst>
          </a:prstGeom>
          <a:solidFill>
            <a:srgbClr val="F4F6F9"/>
          </a:solidFill>
          <a:ln w="19050">
            <a:solidFill>
              <a:srgbClr val="00336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00800" y="4754880"/>
            <a:ext cx="402336" cy="402336"/>
          </a:xfrm>
          <a:prstGeom prst="rect">
            <a:avLst>
              <a:gd name="adj" fmla="val 13636"/>
            </a:avLst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0" y="4773168"/>
            <a:ext cx="402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🔑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922008" y="477316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+ ts-node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428232" y="5138928"/>
            <a:ext cx="5257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E4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TypeScript pipeline: tests, utils, scripts, and orchestrator all type-safe — IDE autocomplete, refactoring, and compile-time safety.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0070D2"/>
          </a:solidFill>
          <a:ln w="12700">
            <a:solidFill>
              <a:srgbClr val="0070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A1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384048"/>
            <a:ext cx="11338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87552"/>
            <a:ext cx="11338560" cy="27432"/>
          </a:xfrm>
          <a:prstGeom prst="rect">
            <a:avLst/>
          </a:prstGeom>
          <a:solidFill>
            <a:srgbClr val="0070D2"/>
          </a:solidFill>
          <a:ln w="12700">
            <a:solidFill>
              <a:srgbClr val="0070D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170432"/>
            <a:ext cx="5669280" cy="1170432"/>
          </a:xfrm>
          <a:prstGeom prst="rect">
            <a:avLst>
              <a:gd name="adj" fmla="val 6250"/>
            </a:avLst>
          </a:prstGeom>
          <a:solidFill>
            <a:srgbClr val="EAF3FB"/>
          </a:solidFill>
          <a:ln w="19050">
            <a:solidFill>
              <a:srgbClr val="0070D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" y="1280160"/>
            <a:ext cx="420624" cy="420624"/>
          </a:xfrm>
          <a:prstGeom prst="rect">
            <a:avLst>
              <a:gd name="adj" fmla="val 13043"/>
            </a:avLst>
          </a:prstGeom>
          <a:solidFill>
            <a:srgbClr val="0070D2"/>
          </a:solidFill>
          <a:ln w="12700">
            <a:solidFill>
              <a:srgbClr val="0070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298448"/>
            <a:ext cx="420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⚡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24128" y="129844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80 %+ Faster Regression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1627632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E4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took days of manual testing now runs in minutes — automatically.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496312"/>
            <a:ext cx="5669280" cy="1170432"/>
          </a:xfrm>
          <a:prstGeom prst="rect">
            <a:avLst>
              <a:gd name="adj" fmla="val 6250"/>
            </a:avLst>
          </a:prstGeom>
          <a:solidFill>
            <a:srgbClr val="EAF3FB"/>
          </a:solidFill>
          <a:ln w="19050">
            <a:solidFill>
              <a:srgbClr val="0070D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" y="2606040"/>
            <a:ext cx="420624" cy="420624"/>
          </a:xfrm>
          <a:prstGeom prst="rect">
            <a:avLst>
              <a:gd name="adj" fmla="val 13043"/>
            </a:avLst>
          </a:prstGeom>
          <a:solidFill>
            <a:srgbClr val="0070D2"/>
          </a:solidFill>
          <a:ln w="12700">
            <a:solidFill>
              <a:srgbClr val="0070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2624328"/>
            <a:ext cx="420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💰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24128" y="262432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QA Cost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24128" y="2953512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E4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 and repairs tests; manual script maintenance overhead is eliminated.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822192"/>
            <a:ext cx="5669280" cy="1170432"/>
          </a:xfrm>
          <a:prstGeom prst="rect">
            <a:avLst>
              <a:gd name="adj" fmla="val 6250"/>
            </a:avLst>
          </a:prstGeom>
          <a:solidFill>
            <a:srgbClr val="EAF3FB"/>
          </a:solidFill>
          <a:ln w="19050">
            <a:solidFill>
              <a:srgbClr val="0070D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" y="3931920"/>
            <a:ext cx="420624" cy="420624"/>
          </a:xfrm>
          <a:prstGeom prst="rect">
            <a:avLst>
              <a:gd name="adj" fmla="val 13043"/>
            </a:avLst>
          </a:prstGeom>
          <a:solidFill>
            <a:srgbClr val="0070D2"/>
          </a:solidFill>
          <a:ln w="12700">
            <a:solidFill>
              <a:srgbClr val="0070D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3950208"/>
            <a:ext cx="420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🛡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24128" y="395020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Confidence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24128" y="4279392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E4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100 % automated coverage of critical CPQ workflows before every release.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5148072"/>
            <a:ext cx="5669280" cy="1170432"/>
          </a:xfrm>
          <a:prstGeom prst="rect">
            <a:avLst>
              <a:gd name="adj" fmla="val 6250"/>
            </a:avLst>
          </a:prstGeom>
          <a:solidFill>
            <a:srgbClr val="EAF3FB"/>
          </a:solidFill>
          <a:ln w="19050">
            <a:solidFill>
              <a:srgbClr val="0070D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5257800"/>
            <a:ext cx="420624" cy="420624"/>
          </a:xfrm>
          <a:prstGeom prst="rect">
            <a:avLst>
              <a:gd name="adj" fmla="val 13043"/>
            </a:avLst>
          </a:prstGeom>
          <a:solidFill>
            <a:srgbClr val="0070D2"/>
          </a:solidFill>
          <a:ln w="12700">
            <a:solidFill>
              <a:srgbClr val="0070D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5276088"/>
            <a:ext cx="420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🔄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024128" y="527608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Validation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24128" y="5605272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E4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can be triggered on any code push or org change — shift-left testing.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17920" y="1170432"/>
            <a:ext cx="5440680" cy="5230368"/>
          </a:xfrm>
          <a:prstGeom prst="rect">
            <a:avLst>
              <a:gd name="adj" fmla="val 1399"/>
            </a:avLst>
          </a:prstGeom>
          <a:solidFill>
            <a:srgbClr val="F4F6F9"/>
          </a:solidFill>
          <a:ln w="19050">
            <a:solidFill>
              <a:srgbClr val="00A1B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17920" y="1170432"/>
            <a:ext cx="5440680" cy="438912"/>
          </a:xfrm>
          <a:prstGeom prst="rect">
            <a:avLst/>
          </a:prstGeom>
          <a:solidFill>
            <a:srgbClr val="00A1BE"/>
          </a:solidFill>
          <a:ln w="12700">
            <a:solidFill>
              <a:srgbClr val="00A1B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0" y="1188720"/>
            <a:ext cx="5440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ROADMAP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00800" y="1737360"/>
            <a:ext cx="347472" cy="347472"/>
          </a:xfrm>
          <a:prstGeom prst="rect">
            <a:avLst>
              <a:gd name="adj" fmla="val 15789"/>
            </a:avLst>
          </a:prstGeom>
          <a:solidFill>
            <a:srgbClr val="00A1BE"/>
          </a:solidFill>
          <a:ln w="12700">
            <a:solidFill>
              <a:srgbClr val="00A1B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0" y="1755648"/>
            <a:ext cx="347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🔗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858000" y="175564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Integration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858000" y="1993392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E4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 pipeline into GitHub Actions / Azure DevOps for automatic test runs on every PR.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400800" y="2615184"/>
            <a:ext cx="347472" cy="347472"/>
          </a:xfrm>
          <a:prstGeom prst="rect">
            <a:avLst>
              <a:gd name="adj" fmla="val 15789"/>
            </a:avLst>
          </a:prstGeom>
          <a:solidFill>
            <a:srgbClr val="00A1BE"/>
          </a:solidFill>
          <a:ln w="12700">
            <a:solidFill>
              <a:srgbClr val="00A1B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0" y="2633472"/>
            <a:ext cx="347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🌐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858000" y="263347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Multi-Org Support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858000" y="2871216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E4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config to support dev, staging, and production sandboxes in parallel.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400800" y="3493008"/>
            <a:ext cx="347472" cy="347472"/>
          </a:xfrm>
          <a:prstGeom prst="rect">
            <a:avLst>
              <a:gd name="adj" fmla="val 15789"/>
            </a:avLst>
          </a:prstGeom>
          <a:solidFill>
            <a:srgbClr val="00A1BE"/>
          </a:solidFill>
          <a:ln w="12700">
            <a:solidFill>
              <a:srgbClr val="00A1B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0" y="3511296"/>
            <a:ext cx="347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📱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6858000" y="3511296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Mobile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858000" y="374904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E4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coverage to Salesforce mobile and community portal flows.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400800" y="4370832"/>
            <a:ext cx="347472" cy="347472"/>
          </a:xfrm>
          <a:prstGeom prst="rect">
            <a:avLst>
              <a:gd name="adj" fmla="val 15789"/>
            </a:avLst>
          </a:prstGeom>
          <a:solidFill>
            <a:srgbClr val="00A1BE"/>
          </a:solidFill>
          <a:ln w="12700">
            <a:solidFill>
              <a:srgbClr val="00A1B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800" y="4389120"/>
            <a:ext cx="347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📈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6858000" y="43891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Analytics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858000" y="4626864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E4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pass-rate trending and flakiness scoring per test.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400800" y="5248656"/>
            <a:ext cx="347472" cy="347472"/>
          </a:xfrm>
          <a:prstGeom prst="rect">
            <a:avLst>
              <a:gd name="adj" fmla="val 15789"/>
            </a:avLst>
          </a:prstGeom>
          <a:solidFill>
            <a:srgbClr val="00A1BE"/>
          </a:solidFill>
          <a:ln w="12700">
            <a:solidFill>
              <a:srgbClr val="00A1B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0800" y="5266944"/>
            <a:ext cx="347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🧩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6858000" y="5266944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Objects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858000" y="5504688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E4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Cases, Products, Contracts, and Service Cloud with zero framework changes.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A1BE"/>
          </a:solidFill>
          <a:ln w="12700">
            <a:solidFill>
              <a:srgbClr val="00A1B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217920"/>
            <a:ext cx="12192000" cy="640080"/>
          </a:xfrm>
          <a:prstGeom prst="rect">
            <a:avLst/>
          </a:prstGeom>
          <a:solidFill>
            <a:srgbClr val="0070D2"/>
          </a:solidFill>
          <a:ln w="12700">
            <a:solidFill>
              <a:srgbClr val="0070D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0" y="-1371600"/>
            <a:ext cx="5029200" cy="5029200"/>
          </a:xfrm>
          <a:prstGeom prst="ellipse">
            <a:avLst/>
          </a:prstGeom>
          <a:solidFill>
            <a:srgbClr val="00A1BE">
              <a:alpha val="12000"/>
            </a:srgbClr>
          </a:solidFill>
          <a:ln w="12700">
            <a:solidFill>
              <a:srgbClr val="00A1B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64592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B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3749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00A1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 Playwright  ·  Claude AI  ·  TypeScript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00A1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Nikhil Gupta  |  April 2026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4663440"/>
            <a:ext cx="5029200" cy="1234440"/>
          </a:xfrm>
          <a:prstGeom prst="rect">
            <a:avLst>
              <a:gd name="adj" fmla="val 7407"/>
            </a:avLst>
          </a:prstGeom>
          <a:solidFill>
            <a:srgbClr val="0070D2">
              <a:alpha val="70000"/>
            </a:srgbClr>
          </a:solidFill>
          <a:ln w="12700">
            <a:solidFill>
              <a:srgbClr val="00A1B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773168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7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Tests  ·  4 Modules  ·  100 % Pass Rate</a:t>
            </a:r>
            <a:endParaRPr lang="en-US" sz="1200" dirty="0"/>
          </a:p>
          <a:p>
            <a:pPr algn="ctr" indent="0" marL="0">
              <a:lnSpc>
                <a:spcPct val="17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User Stories  ·  AI Generated &amp; Self-Healed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2026-04-01T03:38:20Z</dcterms:created>
  <dcterms:modified xsi:type="dcterms:W3CDTF">2026-04-01T03:38:20Z</dcterms:modified>
</cp:coreProperties>
</file>